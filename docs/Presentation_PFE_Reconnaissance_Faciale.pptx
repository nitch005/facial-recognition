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2011680"/>
            <a:ext cx="4754880" cy="4754880"/>
          </a:xfrm>
          <a:prstGeom prst="ellipse">
            <a:avLst/>
          </a:prstGeom>
          <a:solidFill>
            <a:srgbClr val="16203A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389120"/>
            <a:ext cx="4206240" cy="4206240"/>
          </a:xfrm>
          <a:prstGeom prst="ellipse">
            <a:avLst/>
          </a:prstGeom>
          <a:solidFill>
            <a:srgbClr val="16203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D'ÉTUDES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55448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 Faciale</a:t>
            </a:r>
            <a:endParaRPr lang="en-US" sz="4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Temps Réel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Apprentissage Profond  (ArcFace / SFace)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41248" y="4069080"/>
            <a:ext cx="2011680" cy="0"/>
          </a:xfrm>
          <a:prstGeom prst="line">
            <a:avLst/>
          </a:prstGeom>
          <a:noFill/>
          <a:ln w="25400">
            <a:solidFill>
              <a:srgbClr val="00B4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: Technicien Spécialisé en Réseaux Informatique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47091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 et Prénom]</a:t>
            </a:r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Encadré par 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[Encadrant]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Année de formation : 2025 / 2026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44968" y="1618488"/>
            <a:ext cx="3986784" cy="2268675"/>
          </a:xfrm>
          <a:prstGeom prst="roundRect">
            <a:avLst>
              <a:gd name="adj" fmla="val 2418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14300" dist="50800" dir="5400000">
              <a:srgbClr val="6B7790">
                <a:alpha val="30000"/>
              </a:srgbClr>
            </a:outerShdw>
          </a:effectLst>
        </p:spPr>
      </p:sp>
      <p:pic>
        <p:nvPicPr>
          <p:cNvPr id="12" name="Image 0" descr="/Users/v12soft/Downloads/pfe_technicien_specialise_en_reseaux_informatique_camera/docs/figures/fig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1691640"/>
            <a:ext cx="3840480" cy="2122371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8A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709928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14630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problématique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146304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37960" y="1709928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78040" y="14630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267004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2916936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26700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l'apprentissage profond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309360" y="2670048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37960" y="2916936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178040" y="2670048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≠ Reconnaissance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387705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" y="4123944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3" name="Text 21"/>
          <p:cNvSpPr/>
          <p:nvPr/>
        </p:nvSpPr>
        <p:spPr>
          <a:xfrm>
            <a:off x="96012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00200" y="3877056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pipeline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309360" y="3877056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537960" y="4123944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178040" y="3877056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&amp; réalisation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508406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" y="5330952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1" name="Text 29"/>
          <p:cNvSpPr/>
          <p:nvPr/>
        </p:nvSpPr>
        <p:spPr>
          <a:xfrm>
            <a:off x="96012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00200" y="5084064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&amp; performances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309360" y="5084064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537960" y="5330952"/>
            <a:ext cx="457200" cy="45720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5" name="Text 33"/>
          <p:cNvSpPr/>
          <p:nvPr/>
        </p:nvSpPr>
        <p:spPr>
          <a:xfrm>
            <a:off x="653796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78040" y="5084064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problématique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148840"/>
            <a:ext cx="4983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reconnaissance faciale est partout : déverrouillage des smartphones, contrôle d'accès, vidéosurveillance, gestion de présence.</a:t>
            </a:r>
            <a:endParaRPr lang="en-US" sz="145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4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offre une identification naturelle et sans contact, contrairement aux badges ou mots de passe (perte, oubli, partage).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005840" y="4023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434840"/>
            <a:ext cx="4983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i="1" dirty="0">
                <a:solidFill>
                  <a:srgbClr val="333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reconnaître une personne sans la confondre avec une autre, même lorsqu'elle ne regarde pas la caméra de face, tout en restant exécutable sur un simple ordinateur portable 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1463040"/>
            <a:ext cx="4937760" cy="4480560"/>
          </a:xfrm>
          <a:prstGeom prst="roundRect">
            <a:avLst>
              <a:gd name="adj" fmla="val 1633"/>
            </a:avLst>
          </a:prstGeom>
          <a:solidFill>
            <a:srgbClr val="0F1626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76656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B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Deux défis majeurs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766560" y="2286000"/>
            <a:ext cx="502920" cy="50292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≠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2240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des visages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67004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pas attribuer le nom d'une personne à une autre qui lui ressemble.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766560" y="3977640"/>
            <a:ext cx="502920" cy="502920"/>
          </a:xfrm>
          <a:prstGeom prst="ellipse">
            <a:avLst/>
          </a:prstGeom>
          <a:solidFill>
            <a:srgbClr val="E0871E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↻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06640" y="39319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Visages non frontaux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06640" y="4361688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Reconnaître même de profil ou la tête inclinée.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1938528"/>
            <a:ext cx="658368" cy="65836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9385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65960" y="19385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7432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Localiser les visages en temps réel via la webcam.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1938528"/>
            <a:ext cx="658368" cy="65836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19385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543800" y="193852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Enregistrer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720840" y="274320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Associer un nom à un visage en un clic.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97280" y="4087368"/>
            <a:ext cx="658368" cy="65836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87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965960" y="40873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Mémoriser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43000" y="489204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Sauvegarder le visage de façon permanente.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703320"/>
            <a:ext cx="521208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75120" y="4087368"/>
            <a:ext cx="658368" cy="65836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0873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7543800" y="4087368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Reconnaître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720840" y="4892040"/>
            <a:ext cx="45262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automatiquement le nom de la personne.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l'apprentissage profond 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DECEC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4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LBPH  (classique)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Abandonné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2697480"/>
            <a:ext cx="48006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4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des textures d'images frontales.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4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fréquente entre visages proches.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4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Échec sur les visages de profil.</a:t>
            </a:r>
            <a:endParaRPr lang="en-US" sz="14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450" dirty="0">
                <a:solidFill>
                  <a:srgbClr val="4A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Ré-entraînement nécessaire à chaque ajout.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63640" y="1508760"/>
            <a:ext cx="5166360" cy="4297680"/>
          </a:xfrm>
          <a:prstGeom prst="roundRect">
            <a:avLst>
              <a:gd name="adj" fmla="val 1702"/>
            </a:avLst>
          </a:prstGeom>
          <a:solidFill>
            <a:srgbClr val="E9F7E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7830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ArcFace / SFace  (Deep Learning)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212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  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37960" y="269748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Empreintes (vecteurs) apprises sur des millions de visages.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discriminant : pas de confusion.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 aux angles et à l'éclairage.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ré-entraînement : mémorisation directe.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≈ 99,8 % (LFW).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 ≠ Reconnaissance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système moderne combine deux étapes complémentaires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2331720"/>
            <a:ext cx="731520" cy="731520"/>
          </a:xfrm>
          <a:prstGeom prst="ellipse">
            <a:avLst/>
          </a:prstGeom>
          <a:solidFill>
            <a:srgbClr val="9B59D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920240" y="23774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DÉTECTION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051560" y="3291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E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OÙ sont les visages ? »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51560" y="37490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SCRFD / YuNet  (ou YOLOv8-face).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les visages, même de profil.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69280" y="32004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B4A0"/>
                </a:solidFill>
              </a:rPr>
              <a:t>➜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6583680" y="2011680"/>
            <a:ext cx="4846320" cy="3108960"/>
          </a:xfrm>
          <a:prstGeom prst="roundRect">
            <a:avLst>
              <a:gd name="adj" fmla="val 2353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903720" y="2331720"/>
            <a:ext cx="731520" cy="73152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6903720" y="2331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72400" y="23774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RECONNAISSANCE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903720" y="32918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QUI est-ce ? 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03720" y="37490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/ SFace.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Calcule l'empreinte et l'identifie.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seul ne suffit pas : c'est un détecteur, il ne dit pas QUI c'est.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: le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10753344" cy="3469843"/>
          </a:xfrm>
          <a:prstGeom prst="roundRect">
            <a:avLst>
              <a:gd name="adj" fmla="val 1581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14300" dist="50800" dir="5400000">
              <a:srgbClr val="6B7790">
                <a:alpha val="30000"/>
              </a:srgbClr>
            </a:outerShdw>
          </a:effectLst>
        </p:spPr>
      </p:sp>
      <p:pic>
        <p:nvPicPr>
          <p:cNvPr id="6" name="Image 0" descr="/Users/v12soft/Downloads/pfe_technicien_specialise_en_reseaux_informatique_camera/docs/figures/fig_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737360"/>
            <a:ext cx="10607040" cy="33235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5243779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l'image caméra à l'affichage du nom — aucun ré-entraînement requis.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utilisées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24128" y="2103120"/>
            <a:ext cx="566928" cy="56692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19072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42416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Langage principal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27448" y="210312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●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22392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InsightFace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45736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ArcFace + SCRFD (moteur principal)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173736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30768" y="2103120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430768" y="2103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●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25712" y="210312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OpenCV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49056" y="28346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YuNet + SFace + webcam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38404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24128" y="4206240"/>
            <a:ext cx="566928" cy="56692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102412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●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19072" y="42062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ONNX Runtime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042416" y="4937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des modèles sur CPU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34840" y="38404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27448" y="4206240"/>
            <a:ext cx="566928" cy="566928"/>
          </a:xfrm>
          <a:prstGeom prst="ellipse">
            <a:avLst/>
          </a:prstGeom>
          <a:solidFill>
            <a:srgbClr val="E0871E"/>
          </a:solidFill>
          <a:ln/>
        </p:spPr>
      </p:sp>
      <p:sp>
        <p:nvSpPr>
          <p:cNvPr id="27" name="Text 25"/>
          <p:cNvSpPr/>
          <p:nvPr/>
        </p:nvSpPr>
        <p:spPr>
          <a:xfrm>
            <a:off x="472744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22392" y="42062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745736" y="4937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Empreintes &amp; similarité cosinus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38160" y="3840480"/>
            <a:ext cx="3429000" cy="1828800"/>
          </a:xfrm>
          <a:prstGeom prst="roundRect">
            <a:avLst>
              <a:gd name="adj" fmla="val 4000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430768" y="4206240"/>
            <a:ext cx="566928" cy="566928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32" name="Text 30"/>
          <p:cNvSpPr/>
          <p:nvPr/>
        </p:nvSpPr>
        <p:spPr>
          <a:xfrm>
            <a:off x="8430768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25712" y="420624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Tkinter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49056" y="49377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graphique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Réalisation : l'interface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1527048"/>
            <a:ext cx="6089904" cy="3430925"/>
          </a:xfrm>
          <a:prstGeom prst="roundRect">
            <a:avLst>
              <a:gd name="adj" fmla="val 1599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14300" dist="50800" dir="5400000">
              <a:srgbClr val="6B7790">
                <a:alpha val="30000"/>
              </a:srgbClr>
            </a:outerShdw>
          </a:effectLst>
        </p:spPr>
      </p:sp>
      <p:pic>
        <p:nvPicPr>
          <p:cNvPr id="6" name="Image 0" descr="/Users/v12soft/Downloads/pfe_technicien_specialise_en_reseaux_informatique_camera/docs/figures/fig_interf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5943600" cy="32846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949440" y="1600200"/>
            <a:ext cx="4480560" cy="361188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223760" y="18288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Fonctionnement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223760" y="228600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vidéo à gauche : flux webcam + cadres et noms.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à droite : saisie du nom, enregistrement, liste des personnes.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Enregistrement : capture de plusieurs empreintes sous différents angles.</a:t>
            </a:r>
            <a:endParaRPr lang="en-US" sz="14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4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: nom + score affichés (vert = reconnu, rouge = inconnu).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Résultats : précision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67128" y="1481328"/>
            <a:ext cx="7827264" cy="3026664"/>
          </a:xfrm>
          <a:prstGeom prst="roundRect">
            <a:avLst>
              <a:gd name="adj" fmla="val 1813"/>
            </a:avLst>
          </a:prstGeom>
          <a:solidFill>
            <a:srgbClr val="FFFFF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114300" dist="50800" dir="5400000">
              <a:srgbClr val="6B7790">
                <a:alpha val="30000"/>
              </a:srgbClr>
            </a:outerShdw>
          </a:effectLst>
        </p:spPr>
      </p:sp>
      <p:pic>
        <p:nvPicPr>
          <p:cNvPr id="6" name="Image 0" descr="/Users/v12soft/Downloads/pfe_technicien_specialise_en_reseaux_informatique_camera/docs/figures/fig_resulta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0280" y="1554480"/>
            <a:ext cx="7680960" cy="2880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623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personne (angles différents) : </a:t>
            </a:r>
            <a:pPr algn="ctr" indent="0" marL="0">
              <a:buNone/>
            </a:pPr>
            <a:r>
              <a:rPr lang="en-US" sz="15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0,77 ✔   </a:t>
            </a:r>
            <a:pPr algn="ctr" indent="0" marL="0">
              <a:buNone/>
            </a:pPr>
            <a:r>
              <a:rPr lang="en-US" sz="155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Personne différente : </a:t>
            </a:r>
            <a:pPr algn="ctr" indent="0" marL="0">
              <a:buNone/>
            </a:pPr>
            <a:r>
              <a:rPr lang="en-US" sz="15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-0,01 (Inconnu) ✔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important entre les scores → aucune confusion.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Performances &amp; tests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0F1626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2148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B4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99,8 %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Précision (LFW)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34840" y="173736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0F1626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148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ms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709160" y="3429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image  (~12 i/s) sur CPU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429000" cy="2926080"/>
          </a:xfrm>
          <a:prstGeom prst="roundRect">
            <a:avLst>
              <a:gd name="adj" fmla="val 2500"/>
            </a:avLst>
          </a:prstGeom>
          <a:solidFill>
            <a:srgbClr val="0F1626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21040" y="2148840"/>
            <a:ext cx="3063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100 %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8412480" y="342900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E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automatiques réussis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34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Exécution fluide sur un ordinateur portable, sans carte graphique dédiée.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0B4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4572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perspectives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5349240" cy="3611880"/>
          </a:xfrm>
          <a:prstGeom prst="roundRect">
            <a:avLst>
              <a:gd name="adj" fmla="val 2025"/>
            </a:avLst>
          </a:prstGeom>
          <a:solidFill>
            <a:srgbClr val="E9F7EF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0584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8006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complet de reconnaissance faciale en temps réel, fiable et hors ligne.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L'apprentissage profond a résolu la confusion des noms et l'échec sur les visages de profil.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E3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modulaire, claire et facile à maintenir.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166360" cy="3611880"/>
          </a:xfrm>
          <a:prstGeom prst="roundRect">
            <a:avLst>
              <a:gd name="adj" fmla="val 2025"/>
            </a:avLst>
          </a:prstGeom>
          <a:solidFill>
            <a:srgbClr val="F4F7FB"/>
          </a:solidFill>
          <a:ln w="12700">
            <a:solidFill>
              <a:srgbClr val="DDE5F0"/>
            </a:solidFill>
            <a:prstDash val="solid"/>
          </a:ln>
          <a:effectLst>
            <a:outerShdw sx="100000" sy="100000" kx="0" ky="0" algn="bl" rotWithShape="0" blurRad="88900" dist="38100" dir="5400000">
              <a:srgbClr val="9AA7BD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37960" y="1828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74B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37960" y="2331720"/>
            <a:ext cx="46634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pointage / gestion de présence.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 de vivacité (anti-photo).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dans une base de données.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500" dirty="0">
                <a:solidFill>
                  <a:srgbClr val="1A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Prise en charge de caméras réseau / IP.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 —  PFE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16203A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2011680"/>
            <a:ext cx="4572000" cy="4572000"/>
          </a:xfrm>
          <a:prstGeom prst="ellipse">
            <a:avLst/>
          </a:prstGeom>
          <a:solidFill>
            <a:srgbClr val="16203A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4290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Reconnaissance Faciale en Temps Réel  •  PFE  •  2025 /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Reconnaissance Faciale - PFE</dc:title>
  <dc:subject>PptxGenJS Presentation</dc:subject>
  <dc:creator>PFE</dc:creator>
  <cp:lastModifiedBy>PFE</cp:lastModifiedBy>
  <cp:revision>1</cp:revision>
  <dcterms:created xsi:type="dcterms:W3CDTF">2026-06-27T17:25:33Z</dcterms:created>
  <dcterms:modified xsi:type="dcterms:W3CDTF">2026-06-27T17:25:33Z</dcterms:modified>
</cp:coreProperties>
</file>